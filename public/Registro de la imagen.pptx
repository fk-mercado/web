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6.jpg" ContentType="image/jpg"/>
  <Override PartName="/ppt/media/image7.jpg" ContentType="image/jp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60" r:id="rId4"/>
    <p:sldId id="262" r:id="rId5"/>
    <p:sldId id="268" r:id="rId6"/>
    <p:sldId id="274" r:id="rId7"/>
    <p:sldId id="276" r:id="rId8"/>
    <p:sldId id="275" r:id="rId9"/>
    <p:sldId id="273" r:id="rId10"/>
    <p:sldId id="272" r:id="rId11"/>
    <p:sldId id="271" r:id="rId12"/>
    <p:sldId id="270" r:id="rId13"/>
    <p:sldId id="269" r:id="rId14"/>
    <p:sldId id="267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>
                <a:uFillTx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>
                <a:uFillTx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>
                <a:uFillTx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5207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uFillTx/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15405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b0e5b23e5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ab0e5b23e5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58009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ab0e5b23e5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ab0e5b23e5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26292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92968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15356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20133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24852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57055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173224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05640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260341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985599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b0e5b23e5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b0e5b23e5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61829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b0e5b23e5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b0e5b23e5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01088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uFillTx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uFillTx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uFillTx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1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uFillTx/>
              </a:defRPr>
            </a:lvl1pPr>
            <a:lvl2pPr marL="914377" lvl="1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2pPr>
            <a:lvl3pPr marL="1371566" lvl="2" indent="-304792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3pPr>
            <a:lvl4pPr marL="1828754" lvl="3" indent="-304792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4pPr>
            <a:lvl5pPr marL="2285943" lvl="4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5pPr>
            <a:lvl6pPr marL="2743131" lvl="5" indent="-304792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6pPr>
            <a:lvl7pPr marL="3200320" lvl="6" indent="-304792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7pPr>
            <a:lvl8pPr marL="3657509" lvl="7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8pPr>
            <a:lvl9pPr marL="4114697" lvl="8" indent="-304792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>
                <a:uFillTx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1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uFillTx/>
              </a:defRPr>
            </a:lvl1pPr>
            <a:lvl2pPr marL="914377" lvl="1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2pPr>
            <a:lvl3pPr marL="1371566" lvl="2" indent="-304792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3pPr>
            <a:lvl4pPr marL="1828754" lvl="3" indent="-304792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4pPr>
            <a:lvl5pPr marL="2285943" lvl="4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5pPr>
            <a:lvl6pPr marL="2743131" lvl="5" indent="-304792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6pPr>
            <a:lvl7pPr marL="3200320" lvl="6" indent="-304792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7pPr>
            <a:lvl8pPr marL="3657509" lvl="7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8pPr>
            <a:lvl9pPr marL="4114697" lvl="8" indent="-304792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>
                <a:uFillTx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1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uFillTx/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1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04792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1pPr>
            <a:lvl2pPr marL="914377" lvl="1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2pPr>
            <a:lvl3pPr marL="1371566" lvl="2" indent="-304792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3pPr>
            <a:lvl4pPr marL="1828754" lvl="3" indent="-304792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4pPr>
            <a:lvl5pPr marL="2285943" lvl="4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5pPr>
            <a:lvl6pPr marL="2743131" lvl="5" indent="-304792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>
                <a:uFillTx/>
              </a:defRPr>
            </a:lvl6pPr>
            <a:lvl7pPr marL="3200320" lvl="6" indent="-304792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>
                <a:uFillTx/>
              </a:defRPr>
            </a:lvl7pPr>
            <a:lvl8pPr marL="3657509" lvl="7" indent="-304792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>
                <a:uFillTx/>
              </a:defRPr>
            </a:lvl8pPr>
            <a:lvl9pPr marL="4114697" lvl="8" indent="-304792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>
                <a:uFillTx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1" y="450151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uFillTx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>
            <a:spLocks/>
          </p:cNvSpPr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uFillTx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uFillTx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uFillTx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342891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377" lvl="1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566" lvl="2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754" lvl="3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5943" lvl="4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131" lvl="5" indent="-317492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320" lvl="6" indent="-317492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509" lvl="7" indent="-317492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697" lvl="8" indent="-317492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189" lvl="0" indent="-22859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uFillTx/>
              </a:defRPr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6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uFillTx/>
              </a:defRPr>
            </a:lvl9pPr>
          </a:lstStyle>
          <a:p>
            <a:r>
              <a:rPr>
                <a:uFillTx/>
              </a:rP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1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uFillTx/>
              </a:defRPr>
            </a:lvl1pPr>
            <a:lvl2pPr marL="914377" lvl="1" indent="-317492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2pPr>
            <a:lvl3pPr marL="1371566" lvl="2" indent="-317492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3pPr>
            <a:lvl4pPr marL="1828754" lvl="3" indent="-317492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4pPr>
            <a:lvl5pPr marL="2285943" lvl="4" indent="-317492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5pPr>
            <a:lvl6pPr marL="2743131" lvl="5" indent="-317492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uFillTx/>
              </a:defRPr>
            </a:lvl6pPr>
            <a:lvl7pPr marL="3200320" lvl="6" indent="-317492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uFillTx/>
              </a:defRPr>
            </a:lvl7pPr>
            <a:lvl8pPr marL="3657509" lvl="7" indent="-317492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uFillTx/>
              </a:defRPr>
            </a:lvl8pPr>
            <a:lvl9pPr marL="4114697" lvl="8" indent="-317492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uFillTx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uFillTx/>
              </a:defRPr>
            </a:lvl1pPr>
            <a:lvl2pPr lvl="1">
              <a:buNone/>
              <a:defRPr>
                <a:uFillTx/>
              </a:defRPr>
            </a:lvl2pPr>
            <a:lvl3pPr lvl="2">
              <a:buNone/>
              <a:defRPr>
                <a:uFillTx/>
              </a:defRPr>
            </a:lvl3pPr>
            <a:lvl4pPr lvl="3">
              <a:buNone/>
              <a:defRPr>
                <a:uFillTx/>
              </a:defRPr>
            </a:lvl4pPr>
            <a:lvl5pPr lvl="4">
              <a:buNone/>
              <a:defRPr>
                <a:uFillTx/>
              </a:defRPr>
            </a:lvl5pPr>
            <a:lvl6pPr lvl="5">
              <a:buNone/>
              <a:defRPr>
                <a:uFillTx/>
              </a:defRPr>
            </a:lvl6pPr>
            <a:lvl7pPr lvl="6">
              <a:buNone/>
              <a:defRPr>
                <a:uFillTx/>
              </a:defRPr>
            </a:lvl7pPr>
            <a:lvl8pPr lvl="7">
              <a:buNone/>
              <a:defRPr>
                <a:uFillTx/>
              </a:defRPr>
            </a:lvl8pPr>
            <a:lvl9pPr lvl="8">
              <a:buNone/>
              <a:defRPr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  <a:uFillTx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  <a:uFillTx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uFillTx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  <a:uFillTx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  <a:uFillTx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  <a:uFillTx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61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uFillTx/>
              </a:defRPr>
            </a:lvl1pPr>
            <a:lvl2pPr lvl="1" algn="r">
              <a:buNone/>
              <a:defRPr sz="1000">
                <a:solidFill>
                  <a:schemeClr val="dk2"/>
                </a:solidFill>
                <a:uFillTx/>
              </a:defRPr>
            </a:lvl2pPr>
            <a:lvl3pPr lvl="2" algn="r">
              <a:buNone/>
              <a:defRPr sz="1000">
                <a:solidFill>
                  <a:schemeClr val="dk2"/>
                </a:solidFill>
                <a:uFillTx/>
              </a:defRPr>
            </a:lvl3pPr>
            <a:lvl4pPr lvl="3" algn="r">
              <a:buNone/>
              <a:defRPr sz="1000">
                <a:solidFill>
                  <a:schemeClr val="dk2"/>
                </a:solidFill>
                <a:uFillTx/>
              </a:defRPr>
            </a:lvl4pPr>
            <a:lvl5pPr lvl="4" algn="r">
              <a:buNone/>
              <a:defRPr sz="1000">
                <a:solidFill>
                  <a:schemeClr val="dk2"/>
                </a:solidFill>
                <a:uFillTx/>
              </a:defRPr>
            </a:lvl5pPr>
            <a:lvl6pPr lvl="5" algn="r">
              <a:buNone/>
              <a:defRPr sz="1000">
                <a:solidFill>
                  <a:schemeClr val="dk2"/>
                </a:solidFill>
                <a:uFillTx/>
              </a:defRPr>
            </a:lvl6pPr>
            <a:lvl7pPr lvl="6" algn="r">
              <a:buNone/>
              <a:defRPr sz="1000">
                <a:solidFill>
                  <a:schemeClr val="dk2"/>
                </a:solidFill>
                <a:uFillTx/>
              </a:defRPr>
            </a:lvl7pPr>
            <a:lvl8pPr lvl="7" algn="r">
              <a:buNone/>
              <a:defRPr sz="1000">
                <a:solidFill>
                  <a:schemeClr val="dk2"/>
                </a:solidFill>
                <a:uFillTx/>
              </a:defRPr>
            </a:lvl8pPr>
            <a:lvl9pPr lvl="8" algn="r">
              <a:buNone/>
              <a:defRPr sz="1000">
                <a:solidFill>
                  <a:schemeClr val="dk2"/>
                </a:solidFill>
                <a:uFillTx/>
              </a:defRPr>
            </a:lvl9pPr>
          </a:lstStyle>
          <a:p>
            <a:fld id="{00000000-1234-1234-1234-123412341234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8;p16">
            <a:extLst>
              <a:ext uri="{FF2B5EF4-FFF2-40B4-BE49-F238E27FC236}">
                <a16:creationId xmlns:a16="http://schemas.microsoft.com/office/drawing/2014/main" id="{9738A0AD-E93F-4468-96E3-C8A2E60C0C9D}"/>
              </a:ext>
            </a:extLst>
          </p:cNvPr>
          <p:cNvSpPr txBox="1">
            <a:spLocks/>
          </p:cNvSpPr>
          <p:nvPr/>
        </p:nvSpPr>
        <p:spPr>
          <a:xfrm>
            <a:off x="4738425" y="1935450"/>
            <a:ext cx="4229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Tecnología en Radiología</a:t>
            </a:r>
            <a:endParaRPr sz="2400" b="1" dirty="0">
              <a:solidFill>
                <a:srgbClr val="434343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79;p16">
            <a:extLst>
              <a:ext uri="{FF2B5EF4-FFF2-40B4-BE49-F238E27FC236}">
                <a16:creationId xmlns:a16="http://schemas.microsoft.com/office/drawing/2014/main" id="{21811E2D-059B-4415-B49B-4D6A38DFCE48}"/>
              </a:ext>
            </a:extLst>
          </p:cNvPr>
          <p:cNvSpPr txBox="1">
            <a:spLocks/>
          </p:cNvSpPr>
          <p:nvPr/>
        </p:nvSpPr>
        <p:spPr>
          <a:xfrm>
            <a:off x="4803050" y="2392600"/>
            <a:ext cx="42294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Registro de la imagen</a:t>
            </a:r>
            <a:endParaRPr sz="2400" dirty="0">
              <a:solidFill>
                <a:srgbClr val="434343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4;p17">
            <a:extLst>
              <a:ext uri="{FF2B5EF4-FFF2-40B4-BE49-F238E27FC236}">
                <a16:creationId xmlns:a16="http://schemas.microsoft.com/office/drawing/2014/main" id="{0DD4042F-1A10-4FA8-A4E2-DCBC4959532B}"/>
              </a:ext>
            </a:extLst>
          </p:cNvPr>
          <p:cNvSpPr txBox="1">
            <a:spLocks/>
          </p:cNvSpPr>
          <p:nvPr/>
        </p:nvSpPr>
        <p:spPr>
          <a:xfrm>
            <a:off x="1007202" y="1709125"/>
            <a:ext cx="7394926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 dirty="0">
                <a:solidFill>
                  <a:srgbClr val="DB0E17"/>
                </a:solidFill>
                <a:uFillTx/>
                <a:latin typeface="Montserrat ExtraBold"/>
                <a:ea typeface="Montserrat ExtraBold"/>
                <a:cs typeface="Montserrat ExtraBold"/>
                <a:sym typeface="Montserrat ExtraBold"/>
              </a:rPr>
              <a:t>Registro de la Imagen</a:t>
            </a:r>
            <a:endParaRPr sz="4800" dirty="0">
              <a:solidFill>
                <a:srgbClr val="DB0E17"/>
              </a:solidFill>
              <a:uFillTx/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" name="Google Shape;85;p17">
            <a:extLst>
              <a:ext uri="{FF2B5EF4-FFF2-40B4-BE49-F238E27FC236}">
                <a16:creationId xmlns:a16="http://schemas.microsoft.com/office/drawing/2014/main" id="{1DE8EEBE-431F-4572-A5A3-C1A02B70CF5B}"/>
              </a:ext>
            </a:extLst>
          </p:cNvPr>
          <p:cNvSpPr txBox="1">
            <a:spLocks/>
          </p:cNvSpPr>
          <p:nvPr/>
        </p:nvSpPr>
        <p:spPr>
          <a:xfrm>
            <a:off x="1007202" y="2611176"/>
            <a:ext cx="57156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dirty="0">
                <a:solidFill>
                  <a:srgbClr val="434343"/>
                </a:solidFill>
                <a:uFillTx/>
                <a:latin typeface="Montserrat"/>
                <a:ea typeface="Montserrat"/>
                <a:cs typeface="Montserrat"/>
                <a:sym typeface="Montserrat"/>
              </a:rPr>
              <a:t>Receptores de Imagen</a:t>
            </a:r>
            <a:endParaRPr sz="3000" dirty="0">
              <a:solidFill>
                <a:srgbClr val="434343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6;p19">
            <a:extLst>
              <a:ext uri="{FF2B5EF4-FFF2-40B4-BE49-F238E27FC236}">
                <a16:creationId xmlns:a16="http://schemas.microsoft.com/office/drawing/2014/main" id="{DBFA053F-A84B-4D11-9775-BA4941EEE0DC}"/>
              </a:ext>
            </a:extLst>
          </p:cNvPr>
          <p:cNvSpPr txBox="1">
            <a:spLocks/>
          </p:cNvSpPr>
          <p:nvPr/>
        </p:nvSpPr>
        <p:spPr>
          <a:xfrm>
            <a:off x="570724" y="504275"/>
            <a:ext cx="8071575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Receptores de imágenes radiográficas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97;p19">
            <a:extLst>
              <a:ext uri="{FF2B5EF4-FFF2-40B4-BE49-F238E27FC236}">
                <a16:creationId xmlns:a16="http://schemas.microsoft.com/office/drawing/2014/main" id="{990C0948-114F-44CB-AB15-EE43DDF9F99D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7" name="5 Grupo">
            <a:extLst>
              <a:ext uri="{FF2B5EF4-FFF2-40B4-BE49-F238E27FC236}">
                <a16:creationId xmlns:a16="http://schemas.microsoft.com/office/drawing/2014/main" id="{4887D7AE-DBFE-4987-B6B9-8151896E29D1}"/>
              </a:ext>
            </a:extLst>
          </p:cNvPr>
          <p:cNvGrpSpPr/>
          <p:nvPr/>
        </p:nvGrpSpPr>
        <p:grpSpPr>
          <a:xfrm>
            <a:off x="240349" y="1821434"/>
            <a:ext cx="8716362" cy="2919003"/>
            <a:chOff x="1231695" y="2473766"/>
            <a:chExt cx="9621939" cy="3485825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D203F761-9EBA-4BA1-A9AA-A10CBBB83451}"/>
                </a:ext>
              </a:extLst>
            </p:cNvPr>
            <p:cNvSpPr txBox="1"/>
            <p:nvPr/>
          </p:nvSpPr>
          <p:spPr>
            <a:xfrm>
              <a:off x="4234856" y="2473766"/>
              <a:ext cx="2542461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9085" indent="-287020">
                <a:lnSpc>
                  <a:spcPct val="100000"/>
                </a:lnSpc>
                <a:spcBef>
                  <a:spcPts val="100"/>
                </a:spcBef>
                <a:buChar char="•"/>
                <a:tabLst>
                  <a:tab pos="299085" algn="l"/>
                  <a:tab pos="299720" algn="l"/>
                </a:tabLst>
              </a:pPr>
              <a:r>
                <a:rPr sz="1800" spc="-5" dirty="0">
                  <a:latin typeface="Arial"/>
                  <a:cs typeface="Arial"/>
                </a:rPr>
                <a:t>Películas</a:t>
              </a:r>
              <a:r>
                <a:rPr sz="1800" spc="-30" dirty="0">
                  <a:latin typeface="Arial"/>
                  <a:cs typeface="Arial"/>
                </a:rPr>
                <a:t> </a:t>
              </a:r>
              <a:r>
                <a:rPr sz="1800" spc="-5" dirty="0">
                  <a:latin typeface="Arial"/>
                  <a:cs typeface="Arial"/>
                </a:rPr>
                <a:t>radiográficas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D2665C3-2217-424A-922F-99A550B5C71B}"/>
                </a:ext>
              </a:extLst>
            </p:cNvPr>
            <p:cNvSpPr txBox="1"/>
            <p:nvPr/>
          </p:nvSpPr>
          <p:spPr>
            <a:xfrm>
              <a:off x="7792673" y="2473766"/>
              <a:ext cx="2803866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9085" marR="5080" indent="-287020">
                <a:lnSpc>
                  <a:spcPct val="100000"/>
                </a:lnSpc>
                <a:spcBef>
                  <a:spcPts val="100"/>
                </a:spcBef>
                <a:buChar char="•"/>
                <a:tabLst>
                  <a:tab pos="299085" algn="l"/>
                  <a:tab pos="299720" algn="l"/>
                </a:tabLst>
              </a:pPr>
              <a:r>
                <a:rPr lang="es-CO" sz="1800" spc="-5" dirty="0">
                  <a:latin typeface="Arial"/>
                  <a:cs typeface="Arial"/>
                </a:rPr>
                <a:t>Tomografía computarizada</a:t>
              </a:r>
              <a:endParaRPr sz="1800" dirty="0">
                <a:latin typeface="Arial"/>
                <a:cs typeface="Arial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8E04978-C039-4B0F-B875-8BD026C6717D}"/>
                </a:ext>
              </a:extLst>
            </p:cNvPr>
            <p:cNvSpPr txBox="1"/>
            <p:nvPr/>
          </p:nvSpPr>
          <p:spPr>
            <a:xfrm>
              <a:off x="1231695" y="2473766"/>
              <a:ext cx="2546773" cy="5740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299085" marR="5080" indent="-287020">
                <a:lnSpc>
                  <a:spcPct val="100000"/>
                </a:lnSpc>
                <a:spcBef>
                  <a:spcPts val="100"/>
                </a:spcBef>
                <a:buChar char="•"/>
                <a:tabLst>
                  <a:tab pos="299085" algn="l"/>
                  <a:tab pos="299720" algn="l"/>
                </a:tabLst>
              </a:pPr>
              <a:r>
                <a:rPr sz="1800" spc="-5" dirty="0">
                  <a:latin typeface="Arial"/>
                  <a:cs typeface="Arial"/>
                </a:rPr>
                <a:t>Pantallas  Inte</a:t>
              </a:r>
              <a:r>
                <a:rPr sz="1800" spc="-15" dirty="0">
                  <a:latin typeface="Arial"/>
                  <a:cs typeface="Arial"/>
                </a:rPr>
                <a:t>n</a:t>
              </a:r>
              <a:r>
                <a:rPr sz="1800" spc="-5" dirty="0">
                  <a:latin typeface="Arial"/>
                  <a:cs typeface="Arial"/>
                </a:rPr>
                <a:t>sific</a:t>
              </a:r>
              <a:r>
                <a:rPr sz="1800" spc="-15" dirty="0">
                  <a:latin typeface="Arial"/>
                  <a:cs typeface="Arial"/>
                </a:rPr>
                <a:t>a</a:t>
              </a:r>
              <a:r>
                <a:rPr sz="1800" spc="-5" dirty="0">
                  <a:latin typeface="Arial"/>
                  <a:cs typeface="Arial"/>
                </a:rPr>
                <a:t>d</a:t>
              </a:r>
              <a:r>
                <a:rPr sz="1800" spc="-15" dirty="0">
                  <a:latin typeface="Arial"/>
                  <a:cs typeface="Arial"/>
                </a:rPr>
                <a:t>o</a:t>
              </a:r>
              <a:r>
                <a:rPr sz="1800" spc="-5" dirty="0">
                  <a:latin typeface="Arial"/>
                  <a:cs typeface="Arial"/>
                </a:rPr>
                <a:t>ras</a:t>
              </a:r>
              <a:endParaRPr sz="1800" dirty="0">
                <a:latin typeface="Arial"/>
                <a:cs typeface="Arial"/>
              </a:endParaRPr>
            </a:p>
          </p:txBody>
        </p:sp>
        <p:grpSp>
          <p:nvGrpSpPr>
            <p:cNvPr id="11" name="9 Grupo">
              <a:extLst>
                <a:ext uri="{FF2B5EF4-FFF2-40B4-BE49-F238E27FC236}">
                  <a16:creationId xmlns:a16="http://schemas.microsoft.com/office/drawing/2014/main" id="{D845555F-3706-480F-B7E4-89068C0095C9}"/>
                </a:ext>
              </a:extLst>
            </p:cNvPr>
            <p:cNvGrpSpPr/>
            <p:nvPr/>
          </p:nvGrpSpPr>
          <p:grpSpPr>
            <a:xfrm>
              <a:off x="1231695" y="3590366"/>
              <a:ext cx="9621939" cy="2369225"/>
              <a:chOff x="1231695" y="3590366"/>
              <a:chExt cx="9621939" cy="2369225"/>
            </a:xfrm>
          </p:grpSpPr>
          <p:pic>
            <p:nvPicPr>
              <p:cNvPr id="12" name="Picture 2" descr="Tomografía computarizada – Fundación Hospital San Carlos">
                <a:extLst>
                  <a:ext uri="{FF2B5EF4-FFF2-40B4-BE49-F238E27FC236}">
                    <a16:creationId xmlns:a16="http://schemas.microsoft.com/office/drawing/2014/main" id="{5493D24B-30A9-47BB-AEE8-765B3495B4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2673" y="3590367"/>
                <a:ext cx="3060961" cy="23692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object 4">
                <a:extLst>
                  <a:ext uri="{FF2B5EF4-FFF2-40B4-BE49-F238E27FC236}">
                    <a16:creationId xmlns:a16="http://schemas.microsoft.com/office/drawing/2014/main" id="{2F662E36-541F-4D6F-B621-BCC2A4AD8861}"/>
                  </a:ext>
                </a:extLst>
              </p:cNvPr>
              <p:cNvSpPr/>
              <p:nvPr/>
            </p:nvSpPr>
            <p:spPr>
              <a:xfrm>
                <a:off x="4234857" y="3590366"/>
                <a:ext cx="3216995" cy="2369223"/>
              </a:xfrm>
              <a:prstGeom prst="rect">
                <a:avLst/>
              </a:prstGeom>
              <a:blipFill>
                <a:blip r:embed="rId5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7">
                <a:extLst>
                  <a:ext uri="{FF2B5EF4-FFF2-40B4-BE49-F238E27FC236}">
                    <a16:creationId xmlns:a16="http://schemas.microsoft.com/office/drawing/2014/main" id="{5C7C7CFF-DE9E-4C25-82E3-538BADCDB88E}"/>
                  </a:ext>
                </a:extLst>
              </p:cNvPr>
              <p:cNvSpPr/>
              <p:nvPr/>
            </p:nvSpPr>
            <p:spPr>
              <a:xfrm>
                <a:off x="1231695" y="3590367"/>
                <a:ext cx="2664629" cy="2369223"/>
              </a:xfrm>
              <a:prstGeom prst="rect">
                <a:avLst/>
              </a:prstGeom>
              <a:blipFill>
                <a:blip r:embed="rId6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6;p19">
            <a:extLst>
              <a:ext uri="{FF2B5EF4-FFF2-40B4-BE49-F238E27FC236}">
                <a16:creationId xmlns:a16="http://schemas.microsoft.com/office/drawing/2014/main" id="{8A26738C-5C72-4469-BDDD-3B3DDC531F0E}"/>
              </a:ext>
            </a:extLst>
          </p:cNvPr>
          <p:cNvSpPr txBox="1">
            <a:spLocks/>
          </p:cNvSpPr>
          <p:nvPr/>
        </p:nvSpPr>
        <p:spPr>
          <a:xfrm>
            <a:off x="570724" y="504275"/>
            <a:ext cx="8071575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Receptores de imágenes radiográficas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97;p19">
            <a:extLst>
              <a:ext uri="{FF2B5EF4-FFF2-40B4-BE49-F238E27FC236}">
                <a16:creationId xmlns:a16="http://schemas.microsoft.com/office/drawing/2014/main" id="{52B82F09-1CEE-487E-87D2-989F81D1ED2A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4" name="13 Grupo">
            <a:extLst>
              <a:ext uri="{FF2B5EF4-FFF2-40B4-BE49-F238E27FC236}">
                <a16:creationId xmlns:a16="http://schemas.microsoft.com/office/drawing/2014/main" id="{87585840-C20E-4D77-903C-FA865883FE9C}"/>
              </a:ext>
            </a:extLst>
          </p:cNvPr>
          <p:cNvGrpSpPr/>
          <p:nvPr/>
        </p:nvGrpSpPr>
        <p:grpSpPr>
          <a:xfrm>
            <a:off x="804226" y="1934415"/>
            <a:ext cx="7407277" cy="2819655"/>
            <a:chOff x="1609859" y="2190355"/>
            <a:chExt cx="8672820" cy="3632741"/>
          </a:xfrm>
        </p:grpSpPr>
        <p:grpSp>
          <p:nvGrpSpPr>
            <p:cNvPr id="5" name="14 Grupo">
              <a:extLst>
                <a:ext uri="{FF2B5EF4-FFF2-40B4-BE49-F238E27FC236}">
                  <a16:creationId xmlns:a16="http://schemas.microsoft.com/office/drawing/2014/main" id="{7300E856-52FB-412F-B9EC-C7AAFB50156C}"/>
                </a:ext>
              </a:extLst>
            </p:cNvPr>
            <p:cNvGrpSpPr/>
            <p:nvPr/>
          </p:nvGrpSpPr>
          <p:grpSpPr>
            <a:xfrm>
              <a:off x="1688083" y="2190355"/>
              <a:ext cx="7446068" cy="566822"/>
              <a:chOff x="1688083" y="2190355"/>
              <a:chExt cx="7446068" cy="566822"/>
            </a:xfrm>
          </p:grpSpPr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5B59BCE8-4AEB-4D7E-9748-09A1925906AD}"/>
                  </a:ext>
                </a:extLst>
              </p:cNvPr>
              <p:cNvSpPr txBox="1"/>
              <p:nvPr/>
            </p:nvSpPr>
            <p:spPr>
              <a:xfrm>
                <a:off x="6591690" y="2190355"/>
                <a:ext cx="2542461" cy="56682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9085" indent="-287020">
                  <a:lnSpc>
                    <a:spcPct val="100000"/>
                  </a:lnSpc>
                  <a:spcBef>
                    <a:spcPts val="100"/>
                  </a:spcBef>
                  <a:buChar char="•"/>
                  <a:tabLst>
                    <a:tab pos="299085" algn="l"/>
                    <a:tab pos="299720" algn="l"/>
                  </a:tabLst>
                </a:pPr>
                <a:r>
                  <a:rPr lang="es-CO" sz="1800" spc="-5" dirty="0">
                    <a:latin typeface="Arial"/>
                    <a:cs typeface="Arial"/>
                  </a:rPr>
                  <a:t>Monitores de televisión</a:t>
                </a:r>
                <a:endParaRPr sz="1800" dirty="0">
                  <a:latin typeface="Arial"/>
                  <a:cs typeface="Arial"/>
                </a:endParaRPr>
              </a:p>
            </p:txBody>
          </p:sp>
          <p:sp>
            <p:nvSpPr>
              <p:cNvPr id="9" name="object 10">
                <a:extLst>
                  <a:ext uri="{FF2B5EF4-FFF2-40B4-BE49-F238E27FC236}">
                    <a16:creationId xmlns:a16="http://schemas.microsoft.com/office/drawing/2014/main" id="{096A7960-C1B5-4B88-BF3C-DA1DD8E6A710}"/>
                  </a:ext>
                </a:extLst>
              </p:cNvPr>
              <p:cNvSpPr txBox="1"/>
              <p:nvPr/>
            </p:nvSpPr>
            <p:spPr>
              <a:xfrm>
                <a:off x="1688083" y="2190355"/>
                <a:ext cx="2546773" cy="56682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9085" marR="5080" indent="-287020">
                  <a:lnSpc>
                    <a:spcPct val="100000"/>
                  </a:lnSpc>
                  <a:spcBef>
                    <a:spcPts val="100"/>
                  </a:spcBef>
                  <a:buChar char="•"/>
                  <a:tabLst>
                    <a:tab pos="299085" algn="l"/>
                    <a:tab pos="299720" algn="l"/>
                  </a:tabLst>
                </a:pPr>
                <a:r>
                  <a:rPr lang="es-CO" sz="1800" spc="-5" dirty="0">
                    <a:latin typeface="Arial"/>
                    <a:cs typeface="Arial"/>
                  </a:rPr>
                  <a:t>Intensificadores de Imagen (fluoroscopio)</a:t>
                </a:r>
                <a:endParaRPr sz="1800" dirty="0">
                  <a:latin typeface="Arial"/>
                  <a:cs typeface="Arial"/>
                </a:endParaRPr>
              </a:p>
            </p:txBody>
          </p:sp>
        </p:grpSp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A0F26A62-D572-460E-A238-0C562270B0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9859" y="3003441"/>
              <a:ext cx="2949261" cy="2819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1509EE02-0CE2-4245-8F2D-252222ABBC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76542" y="3157988"/>
              <a:ext cx="4506137" cy="2510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5947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p19">
            <a:extLst>
              <a:ext uri="{FF2B5EF4-FFF2-40B4-BE49-F238E27FC236}">
                <a16:creationId xmlns:a16="http://schemas.microsoft.com/office/drawing/2014/main" id="{4DD5512E-CD4D-46C0-AA3D-714BEEA37DC5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DD29B39-C407-4A45-9D1E-683AD67A1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311" y="1602896"/>
            <a:ext cx="3361306" cy="3361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11 Llamada rectangular redondeada">
            <a:extLst>
              <a:ext uri="{FF2B5EF4-FFF2-40B4-BE49-F238E27FC236}">
                <a16:creationId xmlns:a16="http://schemas.microsoft.com/office/drawing/2014/main" id="{4A2CBB05-761E-4BB0-8F6A-93D7DDC7B4CA}"/>
              </a:ext>
            </a:extLst>
          </p:cNvPr>
          <p:cNvSpPr/>
          <p:nvPr/>
        </p:nvSpPr>
        <p:spPr>
          <a:xfrm>
            <a:off x="2655063" y="161333"/>
            <a:ext cx="2622015" cy="1441563"/>
          </a:xfrm>
          <a:prstGeom prst="wedgeRoundRectCallout">
            <a:avLst/>
          </a:prstGeom>
          <a:gradFill>
            <a:gsLst>
              <a:gs pos="0">
                <a:srgbClr val="C00000"/>
              </a:gs>
              <a:gs pos="50000">
                <a:schemeClr val="accent2">
                  <a:lumMod val="40000"/>
                  <a:lumOff val="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400" b="1" dirty="0"/>
              <a:t>¿Principal característica de los Rayos X?</a:t>
            </a:r>
          </a:p>
        </p:txBody>
      </p:sp>
    </p:spTree>
    <p:extLst>
      <p:ext uri="{BB962C8B-B14F-4D97-AF65-F5344CB8AC3E}">
        <p14:creationId xmlns:p14="http://schemas.microsoft.com/office/powerpoint/2010/main" val="348418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01BB5068-114B-4A5E-84D2-F89B019CE3E0}"/>
              </a:ext>
            </a:extLst>
          </p:cNvPr>
          <p:cNvSpPr txBox="1">
            <a:spLocks/>
          </p:cNvSpPr>
          <p:nvPr/>
        </p:nvSpPr>
        <p:spPr>
          <a:xfrm>
            <a:off x="501700" y="480404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CO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Pantalla intensificadora fluorescente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6EC900C4-A033-4AAB-8424-F5F2EAD848C9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Google Shape;107;p20">
            <a:extLst>
              <a:ext uri="{FF2B5EF4-FFF2-40B4-BE49-F238E27FC236}">
                <a16:creationId xmlns:a16="http://schemas.microsoft.com/office/drawing/2014/main" id="{70606BC5-9727-4C28-B020-231440074423}"/>
              </a:ext>
            </a:extLst>
          </p:cNvPr>
          <p:cNvSpPr txBox="1">
            <a:spLocks/>
          </p:cNvSpPr>
          <p:nvPr/>
        </p:nvSpPr>
        <p:spPr>
          <a:xfrm>
            <a:off x="4693186" y="1327475"/>
            <a:ext cx="3949114" cy="310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6385" marR="5080" indent="-274320" algn="just">
              <a:lnSpc>
                <a:spcPct val="90000"/>
              </a:lnSpc>
              <a:spcBef>
                <a:spcPts val="385"/>
              </a:spcBef>
            </a:pPr>
            <a:r>
              <a:rPr lang="es-ES" sz="1600" spc="-5" dirty="0"/>
              <a:t>	La pantalla intensificadora es una lamina  </a:t>
            </a:r>
            <a:r>
              <a:rPr lang="es-ES" sz="1600" dirty="0"/>
              <a:t>flexible, </a:t>
            </a:r>
            <a:r>
              <a:rPr lang="es-ES" sz="1600" spc="-5" dirty="0"/>
              <a:t>compuesta </a:t>
            </a:r>
            <a:r>
              <a:rPr lang="es-ES" sz="1600" dirty="0"/>
              <a:t>por </a:t>
            </a:r>
            <a:r>
              <a:rPr lang="es-ES" sz="1600" spc="-5" dirty="0"/>
              <a:t>un material capaz  de </a:t>
            </a:r>
            <a:r>
              <a:rPr lang="es-ES" sz="1600" dirty="0"/>
              <a:t>interaccionar con los rayos x </a:t>
            </a:r>
            <a:r>
              <a:rPr lang="es-ES" sz="1600" spc="-5" dirty="0"/>
              <a:t>en </a:t>
            </a:r>
            <a:r>
              <a:rPr lang="es-ES" sz="1600" dirty="0"/>
              <a:t>mayor  proporción </a:t>
            </a:r>
            <a:r>
              <a:rPr lang="es-ES" sz="1600" spc="-5" dirty="0"/>
              <a:t>que la película </a:t>
            </a:r>
            <a:r>
              <a:rPr lang="es-ES" sz="1600" dirty="0"/>
              <a:t>y </a:t>
            </a:r>
            <a:r>
              <a:rPr lang="es-ES" sz="1600" spc="-5" dirty="0"/>
              <a:t>convertir  estos en luz </a:t>
            </a:r>
            <a:r>
              <a:rPr lang="es-ES" sz="1600" dirty="0"/>
              <a:t>visible (luminiscente); es </a:t>
            </a:r>
            <a:r>
              <a:rPr lang="es-ES" sz="1600" spc="-25" dirty="0"/>
              <a:t>decir,  </a:t>
            </a:r>
            <a:r>
              <a:rPr lang="es-ES" sz="1600" spc="-5" dirty="0"/>
              <a:t>la pantalla actúa como un amplificador </a:t>
            </a:r>
            <a:r>
              <a:rPr lang="es-ES" sz="1600" spc="-10" dirty="0"/>
              <a:t>de  </a:t>
            </a:r>
            <a:r>
              <a:rPr lang="es-ES" sz="1600" spc="-5" dirty="0"/>
              <a:t>la radiación </a:t>
            </a:r>
            <a:r>
              <a:rPr lang="es-ES" sz="1600" dirty="0"/>
              <a:t>remanente, </a:t>
            </a:r>
            <a:r>
              <a:rPr lang="es-ES" sz="1600" spc="-5" dirty="0"/>
              <a:t>lo que permite  obtener </a:t>
            </a:r>
            <a:r>
              <a:rPr lang="es-ES" sz="1600" dirty="0"/>
              <a:t>una </a:t>
            </a:r>
            <a:r>
              <a:rPr lang="es-ES" sz="1600" spc="-5" dirty="0"/>
              <a:t>buena </a:t>
            </a:r>
            <a:r>
              <a:rPr lang="es-ES" sz="1600" dirty="0"/>
              <a:t>calidad radiográfica  utilizando </a:t>
            </a:r>
            <a:r>
              <a:rPr lang="es-ES" sz="1600" spc="-5" dirty="0"/>
              <a:t>menos dosis de </a:t>
            </a:r>
            <a:r>
              <a:rPr lang="es-ES" sz="1600" dirty="0"/>
              <a:t>radiación </a:t>
            </a:r>
            <a:r>
              <a:rPr lang="es-ES" sz="1600" spc="-10" dirty="0"/>
              <a:t>que  </a:t>
            </a:r>
            <a:r>
              <a:rPr lang="es-ES" sz="1600" spc="-5" dirty="0"/>
              <a:t>cuando se utiliza la película sin</a:t>
            </a:r>
            <a:r>
              <a:rPr lang="es-ES" sz="1600" spc="95" dirty="0"/>
              <a:t> </a:t>
            </a:r>
            <a:r>
              <a:rPr lang="es-ES" sz="1600" spc="-5" dirty="0"/>
              <a:t>pantalla</a:t>
            </a:r>
            <a:endParaRPr lang="es-ES" sz="1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504A2B2-92D4-4CC0-9563-F2917E0D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89" y="2007262"/>
            <a:ext cx="4231097" cy="212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745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8A5C345E-33C2-452B-8801-E6D5003B58DA}"/>
              </a:ext>
            </a:extLst>
          </p:cNvPr>
          <p:cNvSpPr txBox="1">
            <a:spLocks/>
          </p:cNvSpPr>
          <p:nvPr/>
        </p:nvSpPr>
        <p:spPr>
          <a:xfrm>
            <a:off x="570725" y="504275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Estructura de una pantalla intensificadora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AD998F40-873A-4A28-91AE-F07C4271D1FA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Google Shape;107;p20">
            <a:extLst>
              <a:ext uri="{FF2B5EF4-FFF2-40B4-BE49-F238E27FC236}">
                <a16:creationId xmlns:a16="http://schemas.microsoft.com/office/drawing/2014/main" id="{CCF3804E-ADFE-42D7-A432-82AA29588C97}"/>
              </a:ext>
            </a:extLst>
          </p:cNvPr>
          <p:cNvSpPr txBox="1">
            <a:spLocks/>
          </p:cNvSpPr>
          <p:nvPr/>
        </p:nvSpPr>
        <p:spPr>
          <a:xfrm>
            <a:off x="4335692" y="1327475"/>
            <a:ext cx="4808308" cy="310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7020" marR="43815" indent="-274320">
              <a:spcBef>
                <a:spcPts val="430"/>
              </a:spcBef>
            </a:pPr>
            <a:r>
              <a:rPr lang="es-ES" sz="1600" dirty="0"/>
              <a:t>	Es una </a:t>
            </a:r>
            <a:r>
              <a:rPr lang="es-ES" sz="1600" spc="-5" dirty="0"/>
              <a:t>lamina flexible </a:t>
            </a:r>
            <a:r>
              <a:rPr lang="es-ES" sz="1600" dirty="0"/>
              <a:t>de </a:t>
            </a:r>
            <a:r>
              <a:rPr lang="es-ES" sz="1600" spc="-5" dirty="0"/>
              <a:t>material plástico  cuyo tamaño coincide con el de la  película.</a:t>
            </a:r>
          </a:p>
          <a:p>
            <a:pPr marL="287020" marR="43815" indent="-274320">
              <a:spcBef>
                <a:spcPts val="430"/>
              </a:spcBef>
            </a:pPr>
            <a:endParaRPr lang="es-ES" sz="1600" dirty="0"/>
          </a:p>
          <a:p>
            <a:pPr marL="287020" marR="5080" indent="-274320">
              <a:spcBef>
                <a:spcPts val="540"/>
              </a:spcBef>
            </a:pPr>
            <a:r>
              <a:rPr lang="es-ES" sz="1600" spc="-5" dirty="0"/>
              <a:t>  	Lo </a:t>
            </a:r>
            <a:r>
              <a:rPr lang="es-ES" sz="1600" dirty="0"/>
              <a:t>mas </a:t>
            </a:r>
            <a:r>
              <a:rPr lang="es-ES" sz="1600" spc="-5" dirty="0"/>
              <a:t>habitual es utilizar una película de  doble emulsión situada entre </a:t>
            </a:r>
            <a:r>
              <a:rPr lang="es-ES" sz="1600" dirty="0"/>
              <a:t>dos p</a:t>
            </a:r>
            <a:r>
              <a:rPr lang="es-ES" sz="1600" spc="-5" dirty="0"/>
              <a:t>antallas  intensificadoras, una anterior </a:t>
            </a:r>
            <a:r>
              <a:rPr lang="es-ES" sz="1600" dirty="0"/>
              <a:t>y otra  </a:t>
            </a:r>
            <a:r>
              <a:rPr lang="es-ES" sz="1600" spc="-15" dirty="0"/>
              <a:t>posterior, </a:t>
            </a:r>
            <a:r>
              <a:rPr lang="es-ES" sz="1600" spc="-5" dirty="0"/>
              <a:t>estando en el interior de un  </a:t>
            </a:r>
            <a:r>
              <a:rPr lang="es-ES" sz="1600" dirty="0"/>
              <a:t>chasís.</a:t>
            </a:r>
          </a:p>
          <a:p>
            <a:pPr marL="287020" marR="5080" indent="-274320">
              <a:spcBef>
                <a:spcPts val="540"/>
              </a:spcBef>
            </a:pPr>
            <a:endParaRPr lang="es-ES" sz="1600" dirty="0"/>
          </a:p>
          <a:p>
            <a:pPr marL="12700">
              <a:spcBef>
                <a:spcPts val="290"/>
              </a:spcBef>
            </a:pPr>
            <a:r>
              <a:rPr lang="es-ES" sz="1600" spc="-20" dirty="0"/>
              <a:t>   Tiene </a:t>
            </a:r>
            <a:r>
              <a:rPr lang="es-ES" sz="1600" spc="-5" dirty="0"/>
              <a:t>cuatro capas: </a:t>
            </a:r>
            <a:r>
              <a:rPr lang="es-ES" sz="1600" dirty="0"/>
              <a:t>capa</a:t>
            </a:r>
            <a:r>
              <a:rPr lang="es-ES" sz="1600" spc="15" dirty="0"/>
              <a:t> </a:t>
            </a:r>
            <a:r>
              <a:rPr lang="es-ES" sz="1600" dirty="0"/>
              <a:t>protectora, </a:t>
            </a:r>
            <a:r>
              <a:rPr lang="es-ES" sz="1600" spc="-5" dirty="0"/>
              <a:t>fluorescente </a:t>
            </a:r>
          </a:p>
          <a:p>
            <a:pPr marL="12700">
              <a:spcBef>
                <a:spcPts val="290"/>
              </a:spcBef>
            </a:pPr>
            <a:r>
              <a:rPr lang="es-ES" sz="1600" spc="-5" dirty="0"/>
              <a:t>   (cristales de luminóforos), </a:t>
            </a:r>
            <a:r>
              <a:rPr lang="es-ES" sz="1600" dirty="0"/>
              <a:t>reflectante o   absorbente y</a:t>
            </a:r>
            <a:r>
              <a:rPr lang="es-ES" sz="1600" spc="5" dirty="0"/>
              <a:t> </a:t>
            </a:r>
            <a:r>
              <a:rPr lang="es-ES" sz="1600" spc="-5" dirty="0"/>
              <a:t>base (estabilidad dimensional).</a:t>
            </a:r>
            <a:endParaRPr lang="es-ES" sz="1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60C24A7-E3C6-474A-B936-53BE394B3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58" y="1636465"/>
            <a:ext cx="4147069" cy="3507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7430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918546A0-F7C4-429E-B4E9-5E0EBDB800FB}"/>
              </a:ext>
            </a:extLst>
          </p:cNvPr>
          <p:cNvSpPr txBox="1">
            <a:spLocks/>
          </p:cNvSpPr>
          <p:nvPr/>
        </p:nvSpPr>
        <p:spPr>
          <a:xfrm>
            <a:off x="570725" y="504275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Estructura de una pantalla intensificadora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D8E6EF20-FBA0-435C-BD58-DB94459B0CB4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Google Shape;107;p20">
            <a:extLst>
              <a:ext uri="{FF2B5EF4-FFF2-40B4-BE49-F238E27FC236}">
                <a16:creationId xmlns:a16="http://schemas.microsoft.com/office/drawing/2014/main" id="{EFAFED90-D29C-4B6F-8B51-8D03D4095A1C}"/>
              </a:ext>
            </a:extLst>
          </p:cNvPr>
          <p:cNvSpPr txBox="1">
            <a:spLocks/>
          </p:cNvSpPr>
          <p:nvPr/>
        </p:nvSpPr>
        <p:spPr>
          <a:xfrm>
            <a:off x="4142342" y="1031069"/>
            <a:ext cx="4808308" cy="310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7020" marR="90805" indent="-274320" algn="just">
              <a:spcBef>
                <a:spcPts val="425"/>
              </a:spcBef>
              <a:buClr>
                <a:srgbClr val="AA2B1E"/>
              </a:buClr>
              <a:buSzPct val="85416"/>
              <a:buChar char="•"/>
              <a:tabLst>
                <a:tab pos="286385" algn="l"/>
                <a:tab pos="287020" algn="l"/>
              </a:tabLst>
            </a:pPr>
            <a:r>
              <a:rPr lang="es-ES" sz="1600" u="heavy" spc="-5" dirty="0">
                <a:uFill>
                  <a:solidFill>
                    <a:srgbClr val="000000"/>
                  </a:solidFill>
                </a:uFill>
              </a:rPr>
              <a:t>Capa </a:t>
            </a:r>
            <a:r>
              <a:rPr lang="es-ES" sz="1600" u="heavy" dirty="0">
                <a:uFill>
                  <a:solidFill>
                    <a:srgbClr val="000000"/>
                  </a:solidFill>
                </a:uFill>
              </a:rPr>
              <a:t>protectora</a:t>
            </a:r>
            <a:r>
              <a:rPr lang="es-ES" sz="1600" dirty="0"/>
              <a:t>: </a:t>
            </a:r>
            <a:r>
              <a:rPr lang="es-ES" sz="1600" spc="-5" dirty="0"/>
              <a:t>es la capa </a:t>
            </a:r>
            <a:r>
              <a:rPr lang="es-ES" sz="1600" dirty="0"/>
              <a:t>mas </a:t>
            </a:r>
            <a:r>
              <a:rPr lang="es-ES" sz="1600" spc="-5" dirty="0"/>
              <a:t>cercana  a la película </a:t>
            </a:r>
            <a:r>
              <a:rPr lang="es-ES" sz="1600" dirty="0"/>
              <a:t>y </a:t>
            </a:r>
            <a:r>
              <a:rPr lang="es-ES" sz="1600" spc="-5" dirty="0"/>
              <a:t>su función es proteger la  pantalla de agresiones</a:t>
            </a:r>
            <a:r>
              <a:rPr lang="es-ES" sz="1600" spc="55" dirty="0"/>
              <a:t> </a:t>
            </a:r>
            <a:r>
              <a:rPr lang="es-ES" sz="1600" spc="-5" dirty="0"/>
              <a:t>externas.</a:t>
            </a:r>
            <a:endParaRPr lang="es-ES" sz="1600" dirty="0"/>
          </a:p>
          <a:p>
            <a:pPr marL="287020" marR="445134" indent="-274320" algn="just">
              <a:lnSpc>
                <a:spcPct val="90000"/>
              </a:lnSpc>
              <a:spcBef>
                <a:spcPts val="545"/>
              </a:spcBef>
              <a:buClr>
                <a:srgbClr val="AA2B1E"/>
              </a:buClr>
              <a:buSzPct val="85416"/>
              <a:buChar char="•"/>
              <a:tabLst>
                <a:tab pos="286385" algn="l"/>
                <a:tab pos="287020" algn="l"/>
              </a:tabLst>
            </a:pPr>
            <a:r>
              <a:rPr lang="es-ES" sz="1600" u="heavy" spc="-5" dirty="0">
                <a:uFill>
                  <a:solidFill>
                    <a:srgbClr val="000000"/>
                  </a:solidFill>
                </a:uFill>
              </a:rPr>
              <a:t>Capa fluorescente:</a:t>
            </a:r>
            <a:r>
              <a:rPr lang="es-ES" sz="1600" spc="-5" dirty="0"/>
              <a:t> constituida por una  emulsión que contiene </a:t>
            </a:r>
            <a:r>
              <a:rPr lang="es-ES" sz="1600" dirty="0"/>
              <a:t>un compuesto  </a:t>
            </a:r>
            <a:r>
              <a:rPr lang="es-ES" sz="1600" spc="-5" dirty="0"/>
              <a:t>capaz de interaccionar con fotones de  rayos x.</a:t>
            </a:r>
            <a:endParaRPr lang="es-ES" sz="1600" dirty="0"/>
          </a:p>
          <a:p>
            <a:pPr marL="287020" marR="5080" indent="-274320" algn="just">
              <a:lnSpc>
                <a:spcPct val="90000"/>
              </a:lnSpc>
              <a:spcBef>
                <a:spcPts val="575"/>
              </a:spcBef>
              <a:buClr>
                <a:srgbClr val="AA2B1E"/>
              </a:buClr>
              <a:buSzPct val="85416"/>
              <a:buChar char="•"/>
              <a:tabLst>
                <a:tab pos="286385" algn="l"/>
                <a:tab pos="287020" algn="l"/>
              </a:tabLst>
            </a:pPr>
            <a:r>
              <a:rPr lang="es-ES" sz="1600" u="heavy" spc="-5" dirty="0">
                <a:uFill>
                  <a:solidFill>
                    <a:srgbClr val="000000"/>
                  </a:solidFill>
                </a:uFill>
              </a:rPr>
              <a:t>Capa </a:t>
            </a:r>
            <a:r>
              <a:rPr lang="es-ES" sz="1600" u="heavy" dirty="0">
                <a:uFill>
                  <a:solidFill>
                    <a:srgbClr val="000000"/>
                  </a:solidFill>
                </a:uFill>
              </a:rPr>
              <a:t>reflectante:</a:t>
            </a:r>
            <a:r>
              <a:rPr lang="es-ES" sz="1600" dirty="0"/>
              <a:t> esta </a:t>
            </a:r>
            <a:r>
              <a:rPr lang="es-ES" sz="1600" spc="-5" dirty="0"/>
              <a:t>compuesto por  dióxido </a:t>
            </a:r>
            <a:r>
              <a:rPr lang="es-ES" sz="1600" dirty="0"/>
              <a:t>de </a:t>
            </a:r>
            <a:r>
              <a:rPr lang="es-ES" sz="1600" spc="-5" dirty="0"/>
              <a:t>titanio </a:t>
            </a:r>
            <a:r>
              <a:rPr lang="es-ES" sz="1600" dirty="0"/>
              <a:t>esta capa se </a:t>
            </a:r>
            <a:r>
              <a:rPr lang="es-ES" sz="1600" spc="-5" dirty="0"/>
              <a:t>utiliza para  evitar perder la luz de </a:t>
            </a:r>
            <a:r>
              <a:rPr lang="es-ES" sz="1600" dirty="0"/>
              <a:t>fotones </a:t>
            </a:r>
            <a:r>
              <a:rPr lang="es-ES" sz="1600" spc="-5" dirty="0"/>
              <a:t>que son  emitidos en todas las dirección desde la  capa</a:t>
            </a:r>
            <a:r>
              <a:rPr lang="es-ES" sz="1600" dirty="0"/>
              <a:t> </a:t>
            </a:r>
            <a:r>
              <a:rPr lang="es-ES" sz="1600" spc="-5" dirty="0"/>
              <a:t>fluorescente.</a:t>
            </a:r>
          </a:p>
          <a:p>
            <a:pPr marL="287020" marR="5080" indent="-274320" algn="just">
              <a:lnSpc>
                <a:spcPct val="90000"/>
              </a:lnSpc>
              <a:spcBef>
                <a:spcPts val="575"/>
              </a:spcBef>
              <a:buClr>
                <a:srgbClr val="AA2B1E"/>
              </a:buClr>
              <a:buSzPct val="85416"/>
              <a:buFontTx/>
              <a:buChar char="•"/>
              <a:tabLst>
                <a:tab pos="286385" algn="l"/>
                <a:tab pos="287020" algn="l"/>
              </a:tabLst>
            </a:pPr>
            <a:r>
              <a:rPr lang="es-ES" sz="1600" u="heavy" spc="-5" dirty="0">
                <a:uFill>
                  <a:solidFill>
                    <a:srgbClr val="000000"/>
                  </a:solidFill>
                </a:uFill>
              </a:rPr>
              <a:t>Base:</a:t>
            </a:r>
            <a:r>
              <a:rPr lang="es-ES" sz="1600" spc="-5" dirty="0"/>
              <a:t> es la capa </a:t>
            </a:r>
            <a:r>
              <a:rPr lang="es-ES" sz="1600" dirty="0"/>
              <a:t>mas </a:t>
            </a:r>
            <a:r>
              <a:rPr lang="es-ES" sz="1600" spc="-5" dirty="0"/>
              <a:t>alejada de la  película, la </a:t>
            </a:r>
            <a:r>
              <a:rPr lang="es-ES" sz="1600" dirty="0"/>
              <a:t>mas gruesa(1mm) </a:t>
            </a:r>
            <a:r>
              <a:rPr lang="es-ES" sz="1600" spc="-5" dirty="0"/>
              <a:t>sirve de  soporte mecánico a la capa</a:t>
            </a:r>
            <a:r>
              <a:rPr lang="es-ES" sz="1600" spc="70" dirty="0"/>
              <a:t> </a:t>
            </a:r>
            <a:r>
              <a:rPr lang="es-ES" sz="1600" spc="-5" dirty="0"/>
              <a:t>fluorescente.</a:t>
            </a:r>
            <a:endParaRPr lang="es-ES" sz="16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C0EFB7F-249E-4EBC-AE79-72D60E927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59" y="1636465"/>
            <a:ext cx="3950284" cy="3507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5706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A309BADF-F5BD-4C40-B27B-124F4859A9D7}"/>
              </a:ext>
            </a:extLst>
          </p:cNvPr>
          <p:cNvSpPr txBox="1">
            <a:spLocks/>
          </p:cNvSpPr>
          <p:nvPr/>
        </p:nvSpPr>
        <p:spPr>
          <a:xfrm>
            <a:off x="264405" y="76732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de los luminóforos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0957D3C8-BB31-4AD8-9D7C-4C98C455CFCF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Google Shape;107;p20">
            <a:extLst>
              <a:ext uri="{FF2B5EF4-FFF2-40B4-BE49-F238E27FC236}">
                <a16:creationId xmlns:a16="http://schemas.microsoft.com/office/drawing/2014/main" id="{AAAA18E4-D3C7-4E97-A67D-8A70ED5FC181}"/>
              </a:ext>
            </a:extLst>
          </p:cNvPr>
          <p:cNvSpPr txBox="1">
            <a:spLocks/>
          </p:cNvSpPr>
          <p:nvPr/>
        </p:nvSpPr>
        <p:spPr>
          <a:xfrm>
            <a:off x="264405" y="1119204"/>
            <a:ext cx="3161841" cy="310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69900" marR="43815" indent="-457200" algn="just">
              <a:spcBef>
                <a:spcPts val="430"/>
              </a:spcBef>
              <a:buAutoNum type="arabicPeriod"/>
            </a:pPr>
            <a:r>
              <a:rPr lang="es-CO" sz="1600" b="1" dirty="0"/>
              <a:t>Alta absorción de Rayos X.</a:t>
            </a:r>
          </a:p>
          <a:p>
            <a:pPr marL="469900" marR="43815" indent="-457200" algn="just">
              <a:spcBef>
                <a:spcPts val="430"/>
              </a:spcBef>
              <a:buAutoNum type="arabicPeriod"/>
            </a:pPr>
            <a:r>
              <a:rPr lang="es-CO" sz="1600" b="1" dirty="0"/>
              <a:t>Alto rendimiento de conversión.</a:t>
            </a:r>
          </a:p>
          <a:p>
            <a:pPr marL="469900" marR="43815" indent="-457200" algn="just">
              <a:spcBef>
                <a:spcPts val="430"/>
              </a:spcBef>
              <a:buAutoNum type="arabicPeriod"/>
            </a:pPr>
            <a:r>
              <a:rPr lang="es-CO" sz="1600" b="1" dirty="0"/>
              <a:t>No presentar luminiscencia residual, ni demora en su actividad. La luminiscencia residual o fosforescencia es la tendencia a continuar emitiendo luz después que ha terminado la exposición a rayos x.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AF7A358-E19F-4829-AE06-7FBCE989A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650" y="1630497"/>
            <a:ext cx="5579350" cy="2709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8569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1CF33D6E-3036-45B7-BF51-E58D41A59472}"/>
              </a:ext>
            </a:extLst>
          </p:cNvPr>
          <p:cNvSpPr txBox="1">
            <a:spLocks/>
          </p:cNvSpPr>
          <p:nvPr/>
        </p:nvSpPr>
        <p:spPr>
          <a:xfrm>
            <a:off x="570725" y="504275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36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Propiedades de las pantallas</a:t>
            </a:r>
            <a:endParaRPr sz="36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63FAB3C7-7077-45E2-9BEE-7868E428D285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Google Shape;107;p20">
            <a:extLst>
              <a:ext uri="{FF2B5EF4-FFF2-40B4-BE49-F238E27FC236}">
                <a16:creationId xmlns:a16="http://schemas.microsoft.com/office/drawing/2014/main" id="{1A0DFCA7-C6B1-486B-95B3-E5EE8B5ED624}"/>
              </a:ext>
            </a:extLst>
          </p:cNvPr>
          <p:cNvSpPr txBox="1">
            <a:spLocks/>
          </p:cNvSpPr>
          <p:nvPr/>
        </p:nvSpPr>
        <p:spPr>
          <a:xfrm>
            <a:off x="264404" y="1240389"/>
            <a:ext cx="8538073" cy="351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algn="just">
              <a:spcBef>
                <a:spcPts val="100"/>
              </a:spcBef>
            </a:pPr>
            <a:r>
              <a:rPr lang="es-ES" sz="1600" spc="-5" dirty="0"/>
              <a:t>Las principales propiedades </a:t>
            </a:r>
            <a:r>
              <a:rPr lang="es-ES" sz="1600" dirty="0"/>
              <a:t>de las</a:t>
            </a:r>
            <a:r>
              <a:rPr lang="es-ES" sz="1600" spc="75" dirty="0"/>
              <a:t> </a:t>
            </a:r>
            <a:r>
              <a:rPr lang="es-ES" sz="1600" spc="-5" dirty="0"/>
              <a:t>pantallas intensificadoras</a:t>
            </a:r>
            <a:r>
              <a:rPr lang="es-ES" sz="1600" spc="30" dirty="0"/>
              <a:t> </a:t>
            </a:r>
            <a:r>
              <a:rPr lang="es-ES" sz="1600" dirty="0"/>
              <a:t>son:</a:t>
            </a:r>
          </a:p>
          <a:p>
            <a:pPr marL="198120" indent="-186055" algn="just">
              <a:spcBef>
                <a:spcPts val="575"/>
              </a:spcBef>
              <a:buFontTx/>
              <a:buChar char="-"/>
              <a:tabLst>
                <a:tab pos="198755" algn="l"/>
              </a:tabLst>
            </a:pPr>
            <a:r>
              <a:rPr lang="es-ES" sz="1600" spc="-5" dirty="0"/>
              <a:t>la</a:t>
            </a:r>
            <a:r>
              <a:rPr lang="es-ES" sz="1600" spc="-15" dirty="0"/>
              <a:t> </a:t>
            </a:r>
            <a:r>
              <a:rPr lang="es-ES" sz="1600" spc="-5" dirty="0"/>
              <a:t>velocidad: depende de </a:t>
            </a:r>
            <a:r>
              <a:rPr lang="es-ES" sz="1600" spc="-10" dirty="0"/>
              <a:t>su  </a:t>
            </a:r>
            <a:r>
              <a:rPr lang="es-ES" sz="1600" dirty="0"/>
              <a:t>mayor o </a:t>
            </a:r>
            <a:r>
              <a:rPr lang="es-ES" sz="1600" spc="-5" dirty="0"/>
              <a:t>menor eficacia </a:t>
            </a:r>
            <a:r>
              <a:rPr lang="es-ES" sz="1600" dirty="0"/>
              <a:t>en la</a:t>
            </a:r>
            <a:r>
              <a:rPr lang="es-ES" sz="1600" spc="-30" dirty="0"/>
              <a:t> </a:t>
            </a:r>
            <a:r>
              <a:rPr lang="es-ES" sz="1600" dirty="0"/>
              <a:t>conversión  </a:t>
            </a:r>
            <a:r>
              <a:rPr lang="es-ES" sz="1600" spc="-5" dirty="0"/>
              <a:t>de radiación </a:t>
            </a:r>
            <a:r>
              <a:rPr lang="es-ES" sz="1600" dirty="0"/>
              <a:t>x </a:t>
            </a:r>
            <a:r>
              <a:rPr lang="es-ES" sz="1600" spc="-5" dirty="0"/>
              <a:t>en la luz visible</a:t>
            </a:r>
            <a:r>
              <a:rPr lang="es-ES" sz="1600" dirty="0"/>
              <a:t>, es </a:t>
            </a:r>
            <a:r>
              <a:rPr lang="es-ES" sz="1600" spc="-25" dirty="0"/>
              <a:t>decir,  </a:t>
            </a:r>
            <a:r>
              <a:rPr lang="es-ES" sz="1600" spc="-5" dirty="0"/>
              <a:t>porcentaje de energía de los fotones de  rayos que la pantalla </a:t>
            </a:r>
            <a:r>
              <a:rPr lang="es-ES" sz="1600" dirty="0"/>
              <a:t>transforma </a:t>
            </a:r>
            <a:r>
              <a:rPr lang="es-ES" sz="1600" spc="-5" dirty="0"/>
              <a:t>en</a:t>
            </a:r>
            <a:r>
              <a:rPr lang="es-ES" sz="1600" spc="30" dirty="0"/>
              <a:t> </a:t>
            </a:r>
            <a:r>
              <a:rPr lang="es-ES" sz="1600" spc="-5" dirty="0"/>
              <a:t>luz.</a:t>
            </a:r>
            <a:endParaRPr lang="es-ES" sz="1600" dirty="0"/>
          </a:p>
          <a:p>
            <a:pPr marL="198120" indent="-186055" algn="just">
              <a:spcBef>
                <a:spcPts val="580"/>
              </a:spcBef>
              <a:buChar char="-"/>
              <a:tabLst>
                <a:tab pos="198755" algn="l"/>
              </a:tabLst>
            </a:pPr>
            <a:r>
              <a:rPr lang="es-ES" sz="1600" spc="-5" dirty="0"/>
              <a:t>el poder de</a:t>
            </a:r>
            <a:r>
              <a:rPr lang="es-ES" sz="1600" spc="15" dirty="0"/>
              <a:t> </a:t>
            </a:r>
            <a:r>
              <a:rPr lang="es-ES" sz="1600" spc="-5" dirty="0"/>
              <a:t>resolución: capacidad de producir  una imagen clara y nítida. En este  sentido, con el uso de las pantallas  intensificadoras se disminuye la resolución en comparación con las películas de exposición directa.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6005CA9-88BF-4DCF-A9B9-8EA90984EF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50" r="3146" b="5165"/>
          <a:stretch/>
        </p:blipFill>
        <p:spPr bwMode="auto">
          <a:xfrm>
            <a:off x="2982669" y="3304869"/>
            <a:ext cx="3372098" cy="1655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236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E113B83A-CBE7-4FAF-9977-BACB9053399E}"/>
              </a:ext>
            </a:extLst>
          </p:cNvPr>
          <p:cNvSpPr txBox="1">
            <a:spLocks/>
          </p:cNvSpPr>
          <p:nvPr/>
        </p:nvSpPr>
        <p:spPr>
          <a:xfrm>
            <a:off x="192718" y="145825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28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Combinaciones entre  película y pantalla</a:t>
            </a:r>
            <a:endParaRPr sz="28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BB808065-4E19-46AB-A32F-58EBC3790C41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4BC7AAE-ADD5-40E0-AD45-B9B54A9443F7}"/>
              </a:ext>
            </a:extLst>
          </p:cNvPr>
          <p:cNvSpPr txBox="1">
            <a:spLocks/>
          </p:cNvSpPr>
          <p:nvPr/>
        </p:nvSpPr>
        <p:spPr>
          <a:xfrm>
            <a:off x="570725" y="1151112"/>
            <a:ext cx="3756871" cy="2243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065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uFillTx/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7020" marR="136525" indent="-274320" algn="just">
              <a:spcBef>
                <a:spcPts val="95"/>
              </a:spcBef>
            </a:pPr>
            <a:r>
              <a:rPr lang="es-ES" sz="1400" spc="75" dirty="0">
                <a:solidFill>
                  <a:schemeClr val="tx1"/>
                </a:solidFill>
              </a:rPr>
              <a:t>Es</a:t>
            </a:r>
            <a:r>
              <a:rPr lang="es-ES" sz="1400" spc="-480" dirty="0">
                <a:solidFill>
                  <a:schemeClr val="tx1"/>
                </a:solidFill>
              </a:rPr>
              <a:t> </a:t>
            </a:r>
            <a:r>
              <a:rPr lang="es-ES" sz="1400" spc="-90" dirty="0">
                <a:solidFill>
                  <a:schemeClr val="tx1"/>
                </a:solidFill>
              </a:rPr>
              <a:t>importante </a:t>
            </a:r>
            <a:r>
              <a:rPr lang="es-ES" sz="1400" spc="-50" dirty="0">
                <a:solidFill>
                  <a:schemeClr val="tx1"/>
                </a:solidFill>
              </a:rPr>
              <a:t>que </a:t>
            </a:r>
            <a:r>
              <a:rPr lang="es-ES" sz="1400" spc="-5" dirty="0">
                <a:solidFill>
                  <a:schemeClr val="tx1"/>
                </a:solidFill>
              </a:rPr>
              <a:t>las </a:t>
            </a:r>
            <a:r>
              <a:rPr lang="es-ES" sz="1400" spc="-55" dirty="0">
                <a:solidFill>
                  <a:schemeClr val="tx1"/>
                </a:solidFill>
              </a:rPr>
              <a:t>películas </a:t>
            </a:r>
            <a:r>
              <a:rPr lang="es-ES" sz="1400" spc="10" dirty="0">
                <a:solidFill>
                  <a:schemeClr val="tx1"/>
                </a:solidFill>
              </a:rPr>
              <a:t>sean </a:t>
            </a:r>
            <a:r>
              <a:rPr lang="es-ES" sz="1400" spc="-65" dirty="0">
                <a:solidFill>
                  <a:schemeClr val="tx1"/>
                </a:solidFill>
              </a:rPr>
              <a:t>compatibles  </a:t>
            </a:r>
            <a:r>
              <a:rPr lang="es-ES" sz="1400" spc="-40" dirty="0">
                <a:solidFill>
                  <a:schemeClr val="tx1"/>
                </a:solidFill>
              </a:rPr>
              <a:t>con</a:t>
            </a:r>
            <a:r>
              <a:rPr lang="es-ES" sz="1400" spc="-125" dirty="0">
                <a:solidFill>
                  <a:schemeClr val="tx1"/>
                </a:solidFill>
              </a:rPr>
              <a:t> </a:t>
            </a:r>
            <a:r>
              <a:rPr lang="es-ES" sz="1400" spc="-5" dirty="0">
                <a:solidFill>
                  <a:schemeClr val="tx1"/>
                </a:solidFill>
              </a:rPr>
              <a:t>las</a:t>
            </a:r>
            <a:r>
              <a:rPr lang="es-ES" sz="1400" spc="-114" dirty="0">
                <a:solidFill>
                  <a:schemeClr val="tx1"/>
                </a:solidFill>
              </a:rPr>
              <a:t> </a:t>
            </a:r>
            <a:r>
              <a:rPr lang="es-ES" sz="1400" spc="-75" dirty="0">
                <a:solidFill>
                  <a:schemeClr val="tx1"/>
                </a:solidFill>
              </a:rPr>
              <a:t>pantallas.</a:t>
            </a:r>
            <a:r>
              <a:rPr lang="es-ES" sz="1400" spc="-114" dirty="0">
                <a:solidFill>
                  <a:schemeClr val="tx1"/>
                </a:solidFill>
              </a:rPr>
              <a:t> </a:t>
            </a:r>
            <a:r>
              <a:rPr lang="es-ES" sz="1400" dirty="0">
                <a:solidFill>
                  <a:schemeClr val="tx1"/>
                </a:solidFill>
              </a:rPr>
              <a:t>De</a:t>
            </a:r>
            <a:r>
              <a:rPr lang="es-ES" sz="1400" spc="-110" dirty="0">
                <a:solidFill>
                  <a:schemeClr val="tx1"/>
                </a:solidFill>
              </a:rPr>
              <a:t> </a:t>
            </a:r>
            <a:r>
              <a:rPr lang="es-ES" sz="1400" spc="-114" dirty="0">
                <a:solidFill>
                  <a:schemeClr val="tx1"/>
                </a:solidFill>
              </a:rPr>
              <a:t>tal </a:t>
            </a:r>
            <a:r>
              <a:rPr lang="es-ES" sz="1400" spc="-85" dirty="0">
                <a:solidFill>
                  <a:schemeClr val="tx1"/>
                </a:solidFill>
              </a:rPr>
              <a:t>modo,</a:t>
            </a:r>
            <a:r>
              <a:rPr lang="es-ES" sz="1400" spc="-120" dirty="0">
                <a:solidFill>
                  <a:schemeClr val="tx1"/>
                </a:solidFill>
              </a:rPr>
              <a:t> </a:t>
            </a:r>
            <a:r>
              <a:rPr lang="es-ES" sz="1400" spc="-50" dirty="0">
                <a:solidFill>
                  <a:schemeClr val="tx1"/>
                </a:solidFill>
              </a:rPr>
              <a:t>que</a:t>
            </a:r>
            <a:r>
              <a:rPr lang="es-ES" sz="1400" spc="-110" dirty="0">
                <a:solidFill>
                  <a:schemeClr val="tx1"/>
                </a:solidFill>
              </a:rPr>
              <a:t> </a:t>
            </a:r>
            <a:r>
              <a:rPr lang="es-ES" sz="1400" spc="-25" dirty="0">
                <a:solidFill>
                  <a:schemeClr val="tx1"/>
                </a:solidFill>
              </a:rPr>
              <a:t>solo</a:t>
            </a:r>
            <a:r>
              <a:rPr lang="es-ES" sz="1400" spc="-130" dirty="0">
                <a:solidFill>
                  <a:schemeClr val="tx1"/>
                </a:solidFill>
              </a:rPr>
              <a:t> </a:t>
            </a:r>
            <a:r>
              <a:rPr lang="es-ES" sz="1400" spc="-45" dirty="0">
                <a:solidFill>
                  <a:schemeClr val="tx1"/>
                </a:solidFill>
              </a:rPr>
              <a:t>deben  </a:t>
            </a:r>
            <a:r>
              <a:rPr lang="es-ES" sz="1400" spc="-85" dirty="0">
                <a:solidFill>
                  <a:schemeClr val="tx1"/>
                </a:solidFill>
              </a:rPr>
              <a:t>utilizarse </a:t>
            </a:r>
            <a:r>
              <a:rPr lang="es-ES" sz="1400" spc="-5" dirty="0">
                <a:solidFill>
                  <a:schemeClr val="tx1"/>
                </a:solidFill>
              </a:rPr>
              <a:t>las </a:t>
            </a:r>
            <a:r>
              <a:rPr lang="es-ES" sz="1400" spc="-55" dirty="0">
                <a:solidFill>
                  <a:schemeClr val="tx1"/>
                </a:solidFill>
              </a:rPr>
              <a:t>películas </a:t>
            </a:r>
            <a:r>
              <a:rPr lang="es-ES" sz="1400" spc="-45" dirty="0">
                <a:solidFill>
                  <a:schemeClr val="tx1"/>
                </a:solidFill>
              </a:rPr>
              <a:t>para </a:t>
            </a:r>
            <a:r>
              <a:rPr lang="es-ES" sz="1400" spc="-5" dirty="0">
                <a:solidFill>
                  <a:schemeClr val="tx1"/>
                </a:solidFill>
              </a:rPr>
              <a:t>las </a:t>
            </a:r>
            <a:r>
              <a:rPr lang="es-ES" sz="1400" spc="-25" dirty="0">
                <a:solidFill>
                  <a:schemeClr val="tx1"/>
                </a:solidFill>
              </a:rPr>
              <a:t>cuales </a:t>
            </a:r>
            <a:r>
              <a:rPr lang="es-ES" sz="1400" spc="-10" dirty="0">
                <a:solidFill>
                  <a:schemeClr val="tx1"/>
                </a:solidFill>
              </a:rPr>
              <a:t>ha </a:t>
            </a:r>
            <a:r>
              <a:rPr lang="es-ES" sz="1400" spc="-20" dirty="0">
                <a:solidFill>
                  <a:schemeClr val="tx1"/>
                </a:solidFill>
              </a:rPr>
              <a:t>sido  diseñada </a:t>
            </a:r>
            <a:r>
              <a:rPr lang="es-ES" sz="1400" spc="-10" dirty="0">
                <a:solidFill>
                  <a:schemeClr val="tx1"/>
                </a:solidFill>
              </a:rPr>
              <a:t>una </a:t>
            </a:r>
            <a:r>
              <a:rPr lang="es-ES" sz="1400" spc="-70" dirty="0">
                <a:solidFill>
                  <a:schemeClr val="tx1"/>
                </a:solidFill>
              </a:rPr>
              <a:t>determinada</a:t>
            </a:r>
            <a:r>
              <a:rPr lang="es-ES" sz="1400" spc="-300" dirty="0">
                <a:solidFill>
                  <a:schemeClr val="tx1"/>
                </a:solidFill>
              </a:rPr>
              <a:t> </a:t>
            </a:r>
            <a:r>
              <a:rPr lang="es-ES" sz="1400" spc="-95" dirty="0">
                <a:solidFill>
                  <a:schemeClr val="tx1"/>
                </a:solidFill>
              </a:rPr>
              <a:t>pantalla.</a:t>
            </a:r>
          </a:p>
          <a:p>
            <a:pPr marL="287020" marR="5080" indent="-274320" algn="just">
              <a:spcBef>
                <a:spcPts val="530"/>
              </a:spcBef>
            </a:pPr>
            <a:r>
              <a:rPr lang="es-ES" sz="1400" spc="-20" dirty="0">
                <a:solidFill>
                  <a:schemeClr val="tx1"/>
                </a:solidFill>
              </a:rPr>
              <a:t>La</a:t>
            </a:r>
            <a:r>
              <a:rPr lang="es-ES" sz="1400" spc="-125" dirty="0">
                <a:solidFill>
                  <a:schemeClr val="tx1"/>
                </a:solidFill>
              </a:rPr>
              <a:t> </a:t>
            </a:r>
            <a:r>
              <a:rPr lang="es-ES" sz="1400" spc="-85" dirty="0">
                <a:solidFill>
                  <a:schemeClr val="tx1"/>
                </a:solidFill>
              </a:rPr>
              <a:t>mayoría</a:t>
            </a:r>
            <a:r>
              <a:rPr lang="es-ES" sz="1400" spc="-130" dirty="0">
                <a:solidFill>
                  <a:schemeClr val="tx1"/>
                </a:solidFill>
              </a:rPr>
              <a:t> </a:t>
            </a:r>
            <a:r>
              <a:rPr lang="es-ES" sz="1400" spc="-50" dirty="0">
                <a:solidFill>
                  <a:schemeClr val="tx1"/>
                </a:solidFill>
              </a:rPr>
              <a:t>de</a:t>
            </a:r>
            <a:r>
              <a:rPr lang="es-ES" sz="1400" spc="-110" dirty="0">
                <a:solidFill>
                  <a:schemeClr val="tx1"/>
                </a:solidFill>
              </a:rPr>
              <a:t> </a:t>
            </a:r>
            <a:r>
              <a:rPr lang="es-ES" sz="1400" spc="-70" dirty="0">
                <a:solidFill>
                  <a:schemeClr val="tx1"/>
                </a:solidFill>
              </a:rPr>
              <a:t>la</a:t>
            </a:r>
            <a:r>
              <a:rPr lang="es-ES" sz="1400" spc="-130" dirty="0">
                <a:solidFill>
                  <a:schemeClr val="tx1"/>
                </a:solidFill>
              </a:rPr>
              <a:t> </a:t>
            </a:r>
            <a:r>
              <a:rPr lang="es-ES" sz="1400" spc="-55" dirty="0">
                <a:solidFill>
                  <a:schemeClr val="tx1"/>
                </a:solidFill>
              </a:rPr>
              <a:t>películas</a:t>
            </a:r>
            <a:r>
              <a:rPr lang="es-ES" sz="1400" spc="-110" dirty="0">
                <a:solidFill>
                  <a:schemeClr val="tx1"/>
                </a:solidFill>
              </a:rPr>
              <a:t> </a:t>
            </a:r>
            <a:r>
              <a:rPr lang="es-ES" sz="1400" spc="25" dirty="0">
                <a:solidFill>
                  <a:schemeClr val="tx1"/>
                </a:solidFill>
              </a:rPr>
              <a:t>son</a:t>
            </a:r>
            <a:r>
              <a:rPr lang="es-ES" sz="1400" spc="-125" dirty="0">
                <a:solidFill>
                  <a:schemeClr val="tx1"/>
                </a:solidFill>
              </a:rPr>
              <a:t> </a:t>
            </a:r>
            <a:r>
              <a:rPr lang="es-ES" sz="1400" spc="-50" dirty="0">
                <a:solidFill>
                  <a:schemeClr val="tx1"/>
                </a:solidFill>
              </a:rPr>
              <a:t>de</a:t>
            </a:r>
            <a:r>
              <a:rPr lang="es-ES" sz="1400" spc="-120" dirty="0">
                <a:solidFill>
                  <a:schemeClr val="tx1"/>
                </a:solidFill>
              </a:rPr>
              <a:t> </a:t>
            </a:r>
            <a:r>
              <a:rPr lang="es-ES" sz="1400" spc="-65" dirty="0">
                <a:solidFill>
                  <a:schemeClr val="tx1"/>
                </a:solidFill>
              </a:rPr>
              <a:t>doble</a:t>
            </a:r>
            <a:r>
              <a:rPr lang="es-ES" sz="1400" spc="-114" dirty="0">
                <a:solidFill>
                  <a:schemeClr val="tx1"/>
                </a:solidFill>
              </a:rPr>
              <a:t> </a:t>
            </a:r>
            <a:r>
              <a:rPr lang="es-ES" sz="1400" spc="-40" dirty="0">
                <a:solidFill>
                  <a:schemeClr val="tx1"/>
                </a:solidFill>
              </a:rPr>
              <a:t>emulsión</a:t>
            </a:r>
            <a:r>
              <a:rPr lang="es-ES" sz="1400" spc="-120" dirty="0">
                <a:solidFill>
                  <a:schemeClr val="tx1"/>
                </a:solidFill>
              </a:rPr>
              <a:t> </a:t>
            </a:r>
            <a:r>
              <a:rPr lang="es-ES" sz="1400" spc="-175" dirty="0">
                <a:solidFill>
                  <a:schemeClr val="tx1"/>
                </a:solidFill>
              </a:rPr>
              <a:t>y  </a:t>
            </a:r>
            <a:r>
              <a:rPr lang="es-ES" sz="1400" spc="25" dirty="0">
                <a:solidFill>
                  <a:schemeClr val="tx1"/>
                </a:solidFill>
              </a:rPr>
              <a:t>son </a:t>
            </a:r>
            <a:r>
              <a:rPr lang="es-ES" sz="1400" spc="-35" dirty="0">
                <a:solidFill>
                  <a:schemeClr val="tx1"/>
                </a:solidFill>
              </a:rPr>
              <a:t>impresionadas en </a:t>
            </a:r>
            <a:r>
              <a:rPr lang="es-ES" sz="1400" spc="-15" dirty="0">
                <a:solidFill>
                  <a:schemeClr val="tx1"/>
                </a:solidFill>
              </a:rPr>
              <a:t>un </a:t>
            </a:r>
            <a:r>
              <a:rPr lang="es-ES" sz="1400" spc="170" dirty="0">
                <a:solidFill>
                  <a:schemeClr val="tx1"/>
                </a:solidFill>
              </a:rPr>
              <a:t>99% </a:t>
            </a:r>
            <a:r>
              <a:rPr lang="es-ES" sz="1400" spc="-80" dirty="0">
                <a:solidFill>
                  <a:schemeClr val="tx1"/>
                </a:solidFill>
              </a:rPr>
              <a:t>por </a:t>
            </a:r>
            <a:r>
              <a:rPr lang="es-ES" sz="1400" spc="-70" dirty="0">
                <a:solidFill>
                  <a:schemeClr val="tx1"/>
                </a:solidFill>
              </a:rPr>
              <a:t>la </a:t>
            </a:r>
            <a:r>
              <a:rPr lang="es-ES" sz="1400" spc="-95" dirty="0">
                <a:solidFill>
                  <a:schemeClr val="tx1"/>
                </a:solidFill>
              </a:rPr>
              <a:t>luz  </a:t>
            </a:r>
            <a:r>
              <a:rPr lang="es-ES" sz="1400" spc="-85" dirty="0">
                <a:solidFill>
                  <a:schemeClr val="tx1"/>
                </a:solidFill>
              </a:rPr>
              <a:t>procedente </a:t>
            </a:r>
            <a:r>
              <a:rPr lang="es-ES" sz="1400" spc="-50" dirty="0">
                <a:solidFill>
                  <a:schemeClr val="tx1"/>
                </a:solidFill>
              </a:rPr>
              <a:t>de </a:t>
            </a:r>
            <a:r>
              <a:rPr lang="es-ES" sz="1400" spc="15" dirty="0">
                <a:solidFill>
                  <a:schemeClr val="tx1"/>
                </a:solidFill>
              </a:rPr>
              <a:t>dos </a:t>
            </a:r>
            <a:r>
              <a:rPr lang="es-ES" sz="1400" spc="-50" dirty="0">
                <a:solidFill>
                  <a:schemeClr val="tx1"/>
                </a:solidFill>
              </a:rPr>
              <a:t>pantallas </a:t>
            </a:r>
            <a:r>
              <a:rPr lang="es-ES" sz="1400" spc="-60" dirty="0">
                <a:solidFill>
                  <a:schemeClr val="tx1"/>
                </a:solidFill>
              </a:rPr>
              <a:t>intensificadoras  </a:t>
            </a:r>
            <a:r>
              <a:rPr lang="es-ES" sz="1400" spc="-15" dirty="0">
                <a:solidFill>
                  <a:schemeClr val="tx1"/>
                </a:solidFill>
              </a:rPr>
              <a:t>situadas </a:t>
            </a:r>
            <a:r>
              <a:rPr lang="es-ES" sz="1400" spc="5" dirty="0">
                <a:solidFill>
                  <a:schemeClr val="tx1"/>
                </a:solidFill>
              </a:rPr>
              <a:t>a </a:t>
            </a:r>
            <a:r>
              <a:rPr lang="es-ES" sz="1400" dirty="0">
                <a:solidFill>
                  <a:schemeClr val="tx1"/>
                </a:solidFill>
              </a:rPr>
              <a:t>ambos </a:t>
            </a:r>
            <a:r>
              <a:rPr lang="es-ES" sz="1400" spc="-20" dirty="0">
                <a:solidFill>
                  <a:schemeClr val="tx1"/>
                </a:solidFill>
              </a:rPr>
              <a:t>lados </a:t>
            </a:r>
            <a:r>
              <a:rPr lang="es-ES" sz="1400" spc="-50" dirty="0">
                <a:solidFill>
                  <a:schemeClr val="tx1"/>
                </a:solidFill>
              </a:rPr>
              <a:t>de </a:t>
            </a:r>
            <a:r>
              <a:rPr lang="es-ES" sz="1400" spc="-70" dirty="0">
                <a:solidFill>
                  <a:schemeClr val="tx1"/>
                </a:solidFill>
              </a:rPr>
              <a:t>la </a:t>
            </a:r>
            <a:r>
              <a:rPr lang="es-ES" sz="1400" spc="-40" dirty="0">
                <a:solidFill>
                  <a:schemeClr val="tx1"/>
                </a:solidFill>
              </a:rPr>
              <a:t>emulsión </a:t>
            </a:r>
            <a:r>
              <a:rPr lang="es-ES" sz="1400" spc="-175" dirty="0">
                <a:solidFill>
                  <a:schemeClr val="tx1"/>
                </a:solidFill>
              </a:rPr>
              <a:t>y  </a:t>
            </a:r>
            <a:r>
              <a:rPr lang="es-ES" sz="1400" spc="-10" dirty="0">
                <a:solidFill>
                  <a:schemeClr val="tx1"/>
                </a:solidFill>
              </a:rPr>
              <a:t>pegadas </a:t>
            </a:r>
            <a:r>
              <a:rPr lang="es-ES" sz="1400" spc="-35" dirty="0">
                <a:solidFill>
                  <a:schemeClr val="tx1"/>
                </a:solidFill>
              </a:rPr>
              <a:t>en </a:t>
            </a:r>
            <a:r>
              <a:rPr lang="es-ES" sz="1400" spc="10" dirty="0">
                <a:solidFill>
                  <a:schemeClr val="tx1"/>
                </a:solidFill>
              </a:rPr>
              <a:t>ambas </a:t>
            </a:r>
            <a:r>
              <a:rPr lang="es-ES" sz="1400" spc="-15" dirty="0">
                <a:solidFill>
                  <a:schemeClr val="tx1"/>
                </a:solidFill>
              </a:rPr>
              <a:t>caras </a:t>
            </a:r>
            <a:r>
              <a:rPr lang="es-ES" sz="1400" spc="-60" dirty="0">
                <a:solidFill>
                  <a:schemeClr val="tx1"/>
                </a:solidFill>
              </a:rPr>
              <a:t>internas </a:t>
            </a:r>
            <a:r>
              <a:rPr lang="es-ES" sz="1400" spc="-85" dirty="0">
                <a:solidFill>
                  <a:schemeClr val="tx1"/>
                </a:solidFill>
              </a:rPr>
              <a:t>del </a:t>
            </a:r>
            <a:r>
              <a:rPr lang="es-ES" sz="1400" spc="-30" dirty="0">
                <a:solidFill>
                  <a:schemeClr val="tx1"/>
                </a:solidFill>
              </a:rPr>
              <a:t>chasis, </a:t>
            </a:r>
            <a:r>
              <a:rPr lang="es-ES" sz="1400" spc="-175" dirty="0">
                <a:solidFill>
                  <a:schemeClr val="tx1"/>
                </a:solidFill>
              </a:rPr>
              <a:t>y  </a:t>
            </a:r>
            <a:r>
              <a:rPr lang="es-ES" sz="1400" spc="-25" dirty="0">
                <a:solidFill>
                  <a:schemeClr val="tx1"/>
                </a:solidFill>
              </a:rPr>
              <a:t>solo</a:t>
            </a:r>
            <a:r>
              <a:rPr lang="es-ES" sz="1400" spc="-135" dirty="0">
                <a:solidFill>
                  <a:schemeClr val="tx1"/>
                </a:solidFill>
              </a:rPr>
              <a:t> </a:t>
            </a:r>
            <a:r>
              <a:rPr lang="es-ES" sz="1400" spc="-15" dirty="0">
                <a:solidFill>
                  <a:schemeClr val="tx1"/>
                </a:solidFill>
              </a:rPr>
              <a:t>un</a:t>
            </a:r>
            <a:r>
              <a:rPr lang="es-ES" sz="1400" spc="-114" dirty="0">
                <a:solidFill>
                  <a:schemeClr val="tx1"/>
                </a:solidFill>
              </a:rPr>
              <a:t> </a:t>
            </a:r>
            <a:r>
              <a:rPr lang="es-ES" sz="1400" spc="30" dirty="0">
                <a:solidFill>
                  <a:schemeClr val="tx1"/>
                </a:solidFill>
              </a:rPr>
              <a:t>1%por</a:t>
            </a:r>
            <a:r>
              <a:rPr lang="es-ES" sz="1400" spc="-110" dirty="0">
                <a:solidFill>
                  <a:schemeClr val="tx1"/>
                </a:solidFill>
              </a:rPr>
              <a:t> </a:t>
            </a:r>
            <a:r>
              <a:rPr lang="es-ES" sz="1400" spc="-70" dirty="0">
                <a:solidFill>
                  <a:schemeClr val="tx1"/>
                </a:solidFill>
              </a:rPr>
              <a:t>la</a:t>
            </a:r>
            <a:r>
              <a:rPr lang="es-ES" sz="1400" spc="-125" dirty="0">
                <a:solidFill>
                  <a:schemeClr val="tx1"/>
                </a:solidFill>
              </a:rPr>
              <a:t> </a:t>
            </a:r>
            <a:r>
              <a:rPr lang="es-ES" sz="1400" spc="-55" dirty="0">
                <a:solidFill>
                  <a:schemeClr val="tx1"/>
                </a:solidFill>
              </a:rPr>
              <a:t>acción</a:t>
            </a:r>
            <a:r>
              <a:rPr lang="es-ES" sz="1400" spc="-120" dirty="0">
                <a:solidFill>
                  <a:schemeClr val="tx1"/>
                </a:solidFill>
              </a:rPr>
              <a:t> </a:t>
            </a:r>
            <a:r>
              <a:rPr lang="es-ES" sz="1400" spc="-95" dirty="0">
                <a:solidFill>
                  <a:schemeClr val="tx1"/>
                </a:solidFill>
              </a:rPr>
              <a:t>directa</a:t>
            </a:r>
            <a:r>
              <a:rPr lang="es-ES" sz="1400" spc="-100" dirty="0">
                <a:solidFill>
                  <a:schemeClr val="tx1"/>
                </a:solidFill>
              </a:rPr>
              <a:t> </a:t>
            </a:r>
            <a:r>
              <a:rPr lang="es-ES" sz="1400" spc="-50" dirty="0">
                <a:solidFill>
                  <a:schemeClr val="tx1"/>
                </a:solidFill>
              </a:rPr>
              <a:t>de</a:t>
            </a:r>
            <a:r>
              <a:rPr lang="es-ES" sz="1400" spc="-100" dirty="0">
                <a:solidFill>
                  <a:schemeClr val="tx1"/>
                </a:solidFill>
              </a:rPr>
              <a:t> </a:t>
            </a:r>
            <a:r>
              <a:rPr lang="es-ES" sz="1400" spc="-20" dirty="0">
                <a:solidFill>
                  <a:schemeClr val="tx1"/>
                </a:solidFill>
              </a:rPr>
              <a:t>los</a:t>
            </a:r>
            <a:r>
              <a:rPr lang="es-ES" sz="1400" spc="-114" dirty="0">
                <a:solidFill>
                  <a:schemeClr val="tx1"/>
                </a:solidFill>
              </a:rPr>
              <a:t> </a:t>
            </a:r>
            <a:r>
              <a:rPr lang="es-ES" sz="1400" spc="-60" dirty="0">
                <a:solidFill>
                  <a:schemeClr val="tx1"/>
                </a:solidFill>
              </a:rPr>
              <a:t>rayos</a:t>
            </a:r>
            <a:r>
              <a:rPr lang="es-ES" sz="1400" spc="-114" dirty="0">
                <a:solidFill>
                  <a:schemeClr val="tx1"/>
                </a:solidFill>
              </a:rPr>
              <a:t> </a:t>
            </a:r>
            <a:r>
              <a:rPr lang="es-ES" sz="1400" spc="-220" dirty="0">
                <a:solidFill>
                  <a:schemeClr val="tx1"/>
                </a:solidFill>
              </a:rPr>
              <a:t>x</a:t>
            </a:r>
            <a:r>
              <a:rPr lang="es-ES" sz="1400" spc="-220" dirty="0"/>
              <a:t>.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C7B535-C713-4F3B-951C-C947C2E81B55}"/>
              </a:ext>
            </a:extLst>
          </p:cNvPr>
          <p:cNvSpPr txBox="1"/>
          <p:nvPr/>
        </p:nvSpPr>
        <p:spPr>
          <a:xfrm>
            <a:off x="4723696" y="3869017"/>
            <a:ext cx="3516919" cy="978473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43815" algn="just">
              <a:spcBef>
                <a:spcPts val="430"/>
              </a:spcBef>
            </a:pPr>
            <a:r>
              <a:rPr lang="es-CO" sz="1000" b="1" dirty="0">
                <a:latin typeface="Arial"/>
                <a:cs typeface="Arial"/>
              </a:rPr>
              <a:t>Debido a la mayor absorción de rayos x y mejor aprovechamiento en la película de la luz resultantes, la combinación de pantallas intensificadoras fluorescentes y película, permite reducir la exposición 50 a 100 veces con respecto al tiempo que requeriría una exposición directa sin pantalla.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4935727A-36B0-4371-A536-E5DF6D804F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0" r="21174" b="59249"/>
          <a:stretch/>
        </p:blipFill>
        <p:spPr bwMode="auto">
          <a:xfrm>
            <a:off x="192718" y="3758849"/>
            <a:ext cx="4346232" cy="770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9828A21-6816-4D3C-AFF0-23876E59B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714" y="1151112"/>
            <a:ext cx="3516919" cy="2570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0880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p20">
            <a:extLst>
              <a:ext uri="{FF2B5EF4-FFF2-40B4-BE49-F238E27FC236}">
                <a16:creationId xmlns:a16="http://schemas.microsoft.com/office/drawing/2014/main" id="{DF296A9E-5B2B-45C6-8730-C6821BAE9239}"/>
              </a:ext>
            </a:extLst>
          </p:cNvPr>
          <p:cNvSpPr txBox="1">
            <a:spLocks/>
          </p:cNvSpPr>
          <p:nvPr/>
        </p:nvSpPr>
        <p:spPr>
          <a:xfrm>
            <a:off x="570725" y="233939"/>
            <a:ext cx="774701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2800" b="1" dirty="0">
                <a:solidFill>
                  <a:srgbClr val="DB0E17"/>
                </a:solidFill>
                <a:latin typeface="Montserrat"/>
                <a:ea typeface="Montserrat"/>
                <a:cs typeface="Montserrat"/>
                <a:sym typeface="Montserrat"/>
              </a:rPr>
              <a:t>Ventajas del uso de pantalla</a:t>
            </a:r>
            <a:endParaRPr sz="2800" b="1" dirty="0">
              <a:solidFill>
                <a:srgbClr val="DB0E17"/>
              </a:solidFill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105;p20">
            <a:extLst>
              <a:ext uri="{FF2B5EF4-FFF2-40B4-BE49-F238E27FC236}">
                <a16:creationId xmlns:a16="http://schemas.microsoft.com/office/drawing/2014/main" id="{9DA0D76B-F001-4381-9BD9-72E266C5D8BB}"/>
              </a:ext>
            </a:extLst>
          </p:cNvPr>
          <p:cNvSpPr txBox="1">
            <a:spLocks/>
          </p:cNvSpPr>
          <p:nvPr/>
        </p:nvSpPr>
        <p:spPr>
          <a:xfrm>
            <a:off x="5785050" y="149325"/>
            <a:ext cx="3165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rgbClr val="434343"/>
                </a:solidFill>
                <a:uFillTx/>
                <a:latin typeface="Montserrat Light"/>
                <a:ea typeface="Montserrat Light"/>
                <a:cs typeface="Montserrat Light"/>
                <a:sym typeface="Montserrat Light"/>
              </a:rPr>
              <a:t>Registro de la imagen</a:t>
            </a:r>
            <a:endParaRPr sz="1800" dirty="0">
              <a:solidFill>
                <a:srgbClr val="434343"/>
              </a:solidFill>
              <a:uFillTx/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904A482-34C4-4D72-99B6-0DB038F14C25}"/>
              </a:ext>
            </a:extLst>
          </p:cNvPr>
          <p:cNvSpPr txBox="1"/>
          <p:nvPr/>
        </p:nvSpPr>
        <p:spPr>
          <a:xfrm>
            <a:off x="570725" y="1150631"/>
            <a:ext cx="3944970" cy="21275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43815" indent="-342900" algn="just">
              <a:spcBef>
                <a:spcPts val="430"/>
              </a:spcBef>
              <a:buAutoNum type="arabicPeriod"/>
            </a:pPr>
            <a:r>
              <a:rPr lang="es-CO" sz="1600" b="1" dirty="0">
                <a:latin typeface="Arial"/>
                <a:cs typeface="Arial"/>
              </a:rPr>
              <a:t>Tiempos de exposición más cortos, con lo cual se disminuye la borrosidad de la imagen debido al movimiento del paciente.</a:t>
            </a:r>
          </a:p>
          <a:p>
            <a:pPr marL="355600" marR="43815" indent="-342900" algn="just">
              <a:spcBef>
                <a:spcPts val="430"/>
              </a:spcBef>
              <a:buAutoNum type="arabicPeriod"/>
            </a:pPr>
            <a:r>
              <a:rPr lang="es-CO" sz="1600" b="1" dirty="0">
                <a:latin typeface="Arial"/>
                <a:cs typeface="Arial"/>
              </a:rPr>
              <a:t>Dosis de radiación más reducidas (paciente – tecnólogo)</a:t>
            </a:r>
          </a:p>
          <a:p>
            <a:pPr marL="355600" marR="43815" indent="-342900" algn="just">
              <a:spcBef>
                <a:spcPts val="430"/>
              </a:spcBef>
              <a:buAutoNum type="arabicPeriod"/>
            </a:pPr>
            <a:r>
              <a:rPr lang="es-CO" sz="1600" b="1" dirty="0">
                <a:latin typeface="Arial"/>
                <a:cs typeface="Arial"/>
              </a:rPr>
              <a:t>Mayor duración útil del tubo de rayos x.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50C73A0-8878-49E3-A81C-C3FB1DC55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407" y="3250911"/>
            <a:ext cx="1782576" cy="164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C0A8F2B2-C797-4FB9-B584-6A1C56AAB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106" y="3045874"/>
            <a:ext cx="3552488" cy="1850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EB3533F2-4319-47F2-AD88-38E7CE31D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9260" y="839807"/>
            <a:ext cx="2924180" cy="1850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6441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/>
          </p:cNvSpPr>
          <p:nvPr/>
        </p:nvSpPr>
        <p:spPr>
          <a:xfrm>
            <a:off x="448400" y="1494675"/>
            <a:ext cx="5407200" cy="146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" sz="7200">
                <a:solidFill>
                  <a:srgbClr val="DB0E1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¡GRACIAS!</a:t>
            </a:r>
            <a:endParaRPr sz="7200">
              <a:solidFill>
                <a:srgbClr val="DB0E17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666</Words>
  <Application>Microsoft Office PowerPoint</Application>
  <PresentationFormat>Presentación en pantalla (16:9)</PresentationFormat>
  <Paragraphs>53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Arial</vt:lpstr>
      <vt:lpstr>Montserrat</vt:lpstr>
      <vt:lpstr>Montserrat ExtraBold</vt:lpstr>
      <vt:lpstr>Montserrat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Liliana</dc:creator>
  <cp:lastModifiedBy>ECHEVERRI SILVA DANIEL</cp:lastModifiedBy>
  <cp:revision>16</cp:revision>
  <dcterms:modified xsi:type="dcterms:W3CDTF">2022-02-03T21:00:17Z</dcterms:modified>
</cp:coreProperties>
</file>